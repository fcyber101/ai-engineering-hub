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ounded Rectangle 1"/>
          <p:cNvSpPr/>
          <p:nvPr/>
        </p:nvSpPr>
        <p:spPr>
          <a:xfrm>
            <a:off x="457200" y="2011680"/>
            <a:ext cx="11277295" cy="1371600"/>
          </a:xfrm>
          <a:prstGeom prst="roundRect">
            <a:avLst/>
          </a:prstGeom>
          <a:solidFill>
            <a:srgbClr val="FFFFFF">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none" anchor="ctr">
            <a:spAutoFit/>
          </a:bodyPr>
          <a:lstStyle/>
          <a:p>
            <a:pPr algn="ctr">
              <a:defRPr sz="4400" b="1">
                <a:solidFill>
                  <a:srgbClr val="1E2761"/>
                </a:solidFill>
              </a:defRPr>
            </a:pPr>
            <a:r>
              <a:t>AI Transforming Clinical 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200" b="1">
                <a:solidFill>
                  <a:srgbClr val="FFFFFF"/>
                </a:solidFill>
              </a:defRPr>
            </a:pPr>
            <a:r>
              <a:t>AI Transforming Clinical Care</a:t>
            </a:r>
          </a:p>
        </p:txBody>
      </p:sp>
      <p:sp>
        <p:nvSpPr>
          <p:cNvPr id="4" name="Rounded Rectangle 3"/>
          <p:cNvSpPr/>
          <p:nvPr/>
        </p:nvSpPr>
        <p:spPr>
          <a:xfrm>
            <a:off x="274320" y="960120"/>
            <a:ext cx="11643055" cy="521208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1155680" cy="5029200"/>
          </a:xfrm>
          <a:prstGeom prst="rect">
            <a:avLst/>
          </a:prstGeom>
          <a:noFill/>
        </p:spPr>
        <p:txBody>
          <a:bodyPr wrap="square">
            <a:spAutoFit/>
          </a:bodyPr>
          <a:lstStyle/>
          <a:p/>
          <a:p>
            <a:pPr>
              <a:spcAft>
                <a:spcPts val="1000"/>
              </a:spcAft>
              <a:defRPr sz="2000">
                <a:solidFill>
                  <a:srgbClr val="000000"/>
                </a:solidFill>
              </a:defRPr>
            </a:pPr>
            <a:r>
              <a:t>• Detect disease early via subtle imaging and lab patterns</a:t>
            </a:r>
          </a:p>
          <a:p>
            <a:pPr>
              <a:spcAft>
                <a:spcPts val="1000"/>
              </a:spcAft>
              <a:defRPr sz="2000">
                <a:solidFill>
                  <a:srgbClr val="000000"/>
                </a:solidFill>
              </a:defRPr>
            </a:pPr>
            <a:r>
              <a:t>• ML algorithms surpass many radiologists in cancer detection</a:t>
            </a:r>
          </a:p>
          <a:p>
            <a:pPr>
              <a:spcAft>
                <a:spcPts val="1000"/>
              </a:spcAft>
              <a:defRPr sz="2000">
                <a:solidFill>
                  <a:srgbClr val="000000"/>
                </a:solidFill>
              </a:defRPr>
            </a:pPr>
            <a:r>
              <a:t>• Personalized treatment using genetics, history, lifestyle data</a:t>
            </a:r>
          </a:p>
          <a:p>
            <a:pPr>
              <a:spcAft>
                <a:spcPts val="1000"/>
              </a:spcAft>
              <a:defRPr sz="2000">
                <a:solidFill>
                  <a:srgbClr val="000000"/>
                </a:solidFill>
              </a:defRPr>
            </a:pPr>
            <a:r>
              <a:t>• Predictive analytics forecast outbreaks from epidemiology and mobility</a:t>
            </a:r>
          </a:p>
          <a:p>
            <a:pPr>
              <a:spcAft>
                <a:spcPts val="1000"/>
              </a:spcAft>
              <a:defRPr sz="2000">
                <a:solidFill>
                  <a:srgbClr val="000000"/>
                </a:solidFill>
              </a:defRPr>
            </a:pPr>
            <a:r>
              <a:t>• AI‑powered robotic surgery delivers precision, minimal invasiveness, faster recovery</a:t>
            </a:r>
          </a:p>
          <a:p>
            <a:pPr>
              <a:spcAft>
                <a:spcPts val="1000"/>
              </a:spcAft>
              <a:defRPr sz="2000">
                <a:solidFill>
                  <a:srgbClr val="000000"/>
                </a:solidFill>
              </a:defRPr>
            </a:pPr>
            <a:r>
              <a:t>• Genomic analysis matches therapies to DNA variants for ultra‑personalized medicine</a:t>
            </a:r>
          </a:p>
          <a:p>
            <a:pPr>
              <a:spcAft>
                <a:spcPts val="1500"/>
              </a:spcAft>
            </a:pPr>
          </a:p>
          <a:p>
            <a:pPr>
              <a:spcAft>
                <a:spcPts val="1200"/>
              </a:spcAft>
              <a:defRPr sz="1200">
                <a:solidFill>
                  <a:srgbClr val="969696"/>
                </a:solidFill>
              </a:defRPr>
            </a:pPr>
            <a:r>
              <a:t>━━━━━━━━━━━━━━━━━━━━━━━━━━━━━━━━━━━━━━━━</a:t>
            </a:r>
          </a:p>
          <a:p>
            <a:pPr>
              <a:defRPr sz="1200" i="1">
                <a:solidFill>
                  <a:srgbClr val="3C3C3C"/>
                </a:solidFill>
              </a:defRPr>
            </a:pPr>
            <a:r>
              <a:t>Artificial intelligence is delivering transformative benefits across the healthcare continuum. By leveraging pattern‑recognition capabilities, AI detects diseases such as cancer earlier and more accurately than many human radiologists, directly improving diagnostic confidence. Personalized treatment plans are crafted from rich patient datasets, ensuring therapies align with individual genetic and lifestyle factors. Administrative efficiency skyrockets as AI automates documentation, billing, and scheduling, allowing clinicians to focus on direct care. Around‑the‑clock chatbots extend patient support beyond office hours, handling triage and routine inquiries. These efficiencies translate into faster diagnosis, reduced hospital stays, and significant cost savings for providers. Patient engagement deepens through AI‑driven education and tailored health reminders. Moreover, AI’s ability to fuse imaging, genomic, and wearable data creates a comprehensive health picture, empowering preventive interventions that catch risk factors before they evolve into disease.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200" b="1">
                <a:solidFill>
                  <a:srgbClr val="FFFFFF"/>
                </a:solidFill>
              </a:defRPr>
            </a:pPr>
            <a:r>
              <a:t>Operational Efficiency &amp; Patient Experience</a:t>
            </a:r>
          </a:p>
        </p:txBody>
      </p:sp>
      <p:sp>
        <p:nvSpPr>
          <p:cNvPr id="4" name="Rounded Rectangle 3"/>
          <p:cNvSpPr/>
          <p:nvPr/>
        </p:nvSpPr>
        <p:spPr>
          <a:xfrm>
            <a:off x="274320" y="960120"/>
            <a:ext cx="11643055" cy="521208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1155680" cy="5029200"/>
          </a:xfrm>
          <a:prstGeom prst="rect">
            <a:avLst/>
          </a:prstGeom>
          <a:noFill/>
        </p:spPr>
        <p:txBody>
          <a:bodyPr wrap="square">
            <a:spAutoFit/>
          </a:bodyPr>
          <a:lstStyle/>
          <a:p/>
          <a:p>
            <a:pPr>
              <a:spcAft>
                <a:spcPts val="1000"/>
              </a:spcAft>
              <a:defRPr sz="2000">
                <a:solidFill>
                  <a:srgbClr val="000000"/>
                </a:solidFill>
              </a:defRPr>
            </a:pPr>
            <a:r>
              <a:t>• Faster diagnostics shorten stays and improve outcomes</a:t>
            </a:r>
          </a:p>
          <a:p>
            <a:pPr>
              <a:spcAft>
                <a:spcPts val="1000"/>
              </a:spcAft>
              <a:defRPr sz="2000">
                <a:solidFill>
                  <a:srgbClr val="000000"/>
                </a:solidFill>
              </a:defRPr>
            </a:pPr>
            <a:r>
              <a:t>• Automated documentation and billing cut clinician admin load</a:t>
            </a:r>
          </a:p>
          <a:p>
            <a:pPr>
              <a:spcAft>
                <a:spcPts val="1000"/>
              </a:spcAft>
              <a:defRPr sz="2000">
                <a:solidFill>
                  <a:srgbClr val="000000"/>
                </a:solidFill>
              </a:defRPr>
            </a:pPr>
            <a:r>
              <a:t>• 24/7 AI chatbots triage symptoms, schedule appointments</a:t>
            </a:r>
          </a:p>
          <a:p>
            <a:pPr>
              <a:spcAft>
                <a:spcPts val="1000"/>
              </a:spcAft>
              <a:defRPr sz="2000">
                <a:solidFill>
                  <a:srgbClr val="000000"/>
                </a:solidFill>
              </a:defRPr>
            </a:pPr>
            <a:r>
              <a:t>• AI‑driven education boosts patient engagement</a:t>
            </a:r>
          </a:p>
          <a:p>
            <a:pPr>
              <a:spcAft>
                <a:spcPts val="1000"/>
              </a:spcAft>
              <a:defRPr sz="2000">
                <a:solidFill>
                  <a:srgbClr val="000000"/>
                </a:solidFill>
              </a:defRPr>
            </a:pPr>
            <a:r>
              <a:t>• Virtual assistants monitor remotely, adapt care plans in real time</a:t>
            </a:r>
          </a:p>
          <a:p>
            <a:pPr>
              <a:spcAft>
                <a:spcPts val="1000"/>
              </a:spcAft>
              <a:defRPr sz="2000">
                <a:solidFill>
                  <a:srgbClr val="000000"/>
                </a:solidFill>
              </a:defRPr>
            </a:pPr>
            <a:r>
              <a:t>• AI mental‑health bots provide scalable counseling and early detection</a:t>
            </a:r>
          </a:p>
          <a:p>
            <a:pPr>
              <a:spcAft>
                <a:spcPts val="1500"/>
              </a:spcAft>
            </a:pPr>
          </a:p>
          <a:p>
            <a:pPr>
              <a:spcAft>
                <a:spcPts val="1200"/>
              </a:spcAft>
              <a:defRPr sz="1200">
                <a:solidFill>
                  <a:srgbClr val="969696"/>
                </a:solidFill>
              </a:defRPr>
            </a:pPr>
            <a:r>
              <a:t>━━━━━━━━━━━━━━━━━━━━━━━━━━━━━━━━━━━━━━━━</a:t>
            </a:r>
          </a:p>
          <a:p>
            <a:pPr>
              <a:defRPr sz="1200" i="1">
                <a:solidFill>
                  <a:srgbClr val="3C3C3C"/>
                </a:solidFill>
              </a:defRPr>
            </a:pPr>
            <a:r>
              <a:t>Despite its promise, AI integration in healthcare faces a suite of formidable challenges. Protecting patient privacy and securing data against breaches is paramount, especially as large datasets fuel model training. Technical hurdles emerge when attempting to mesh AI applications with entrenched EHR systems, often requiring costly custom interfaces. Regulatory landscapes, including FDA approvals and HIPAA rules, impose rigorous validation and documentation requirements. Clinicians must be educated to understand AI outputs, preventing misuse or overreliance on black‑box predictions. Bias in algorithms, stemming from skewed training data, threatens equitable care and must be mitigated through diverse datasets. High‑quality, well‑annotated data are a prerequisite for trustworthy models, yet acquiring such data is resource‑intensive. Standardized interoperability protocols are needed to enable seamless data exchange among disparate systems. Financial constraints can limit adoption, particularly for smaller hospitals lacking capital for AI infrastructure. Ethical issues, such as obtaining informed consent for AI‑assisted decisions, further complicate rollout. Finally, maintaining patient confidence requires transparency about how AI influences their care.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200" b="1">
                <a:solidFill>
                  <a:srgbClr val="FFFFFF"/>
                </a:solidFill>
              </a:defRPr>
            </a:pPr>
            <a:r>
              <a:t>Data Integration &amp; Decision Support</a:t>
            </a:r>
          </a:p>
        </p:txBody>
      </p:sp>
      <p:sp>
        <p:nvSpPr>
          <p:cNvPr id="4" name="Rounded Rectangle 3"/>
          <p:cNvSpPr/>
          <p:nvPr/>
        </p:nvSpPr>
        <p:spPr>
          <a:xfrm>
            <a:off x="274320" y="960120"/>
            <a:ext cx="11643055" cy="521208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1155680" cy="5029200"/>
          </a:xfrm>
          <a:prstGeom prst="rect">
            <a:avLst/>
          </a:prstGeom>
          <a:noFill/>
        </p:spPr>
        <p:txBody>
          <a:bodyPr wrap="square">
            <a:spAutoFit/>
          </a:bodyPr>
          <a:lstStyle/>
          <a:p/>
          <a:p>
            <a:pPr>
              <a:spcAft>
                <a:spcPts val="1000"/>
              </a:spcAft>
              <a:defRPr sz="2000">
                <a:solidFill>
                  <a:srgbClr val="000000"/>
                </a:solidFill>
              </a:defRPr>
            </a:pPr>
            <a:r>
              <a:t>• Combine imaging, genomics, wearables for holistic health view</a:t>
            </a:r>
          </a:p>
          <a:p>
            <a:pPr>
              <a:spcAft>
                <a:spcPts val="1000"/>
              </a:spcAft>
              <a:defRPr sz="2000">
                <a:solidFill>
                  <a:srgbClr val="000000"/>
                </a:solidFill>
              </a:defRPr>
            </a:pPr>
            <a:r>
              <a:t>• Real‑time decision support suggests diagnostics and therapies at bedside</a:t>
            </a:r>
          </a:p>
          <a:p>
            <a:pPr>
              <a:spcAft>
                <a:spcPts val="1000"/>
              </a:spcAft>
              <a:defRPr sz="2000">
                <a:solidFill>
                  <a:srgbClr val="000000"/>
                </a:solidFill>
              </a:defRPr>
            </a:pPr>
            <a:r>
              <a:t>• IoT wearables stream vitals, enabling adaptive AI recommendations</a:t>
            </a:r>
          </a:p>
          <a:p>
            <a:pPr>
              <a:spcAft>
                <a:spcPts val="1000"/>
              </a:spcAft>
              <a:defRPr sz="2000">
                <a:solidFill>
                  <a:srgbClr val="000000"/>
                </a:solidFill>
              </a:defRPr>
            </a:pPr>
            <a:r>
              <a:t>• Continuous‑learning models update with new data to maintain best practices</a:t>
            </a:r>
          </a:p>
          <a:p>
            <a:pPr>
              <a:spcAft>
                <a:spcPts val="1000"/>
              </a:spcAft>
              <a:defRPr sz="2000">
                <a:solidFill>
                  <a:srgbClr val="000000"/>
                </a:solidFill>
              </a:defRPr>
            </a:pPr>
            <a:r>
              <a:t>• AI flags risk factors early, strengthening preventive care</a:t>
            </a:r>
          </a:p>
          <a:p>
            <a:pPr>
              <a:spcAft>
                <a:spcPts val="1000"/>
              </a:spcAft>
              <a:defRPr sz="2000">
                <a:solidFill>
                  <a:srgbClr val="000000"/>
                </a:solidFill>
              </a:defRPr>
            </a:pPr>
            <a:r>
              <a:t>• AI designs individualized lifestyle interventions for prevention programs</a:t>
            </a:r>
          </a:p>
          <a:p>
            <a:pPr>
              <a:spcAft>
                <a:spcPts val="1500"/>
              </a:spcAft>
            </a:pPr>
          </a:p>
          <a:p>
            <a:pPr>
              <a:spcAft>
                <a:spcPts val="1200"/>
              </a:spcAft>
              <a:defRPr sz="1200">
                <a:solidFill>
                  <a:srgbClr val="969696"/>
                </a:solidFill>
              </a:defRPr>
            </a:pPr>
            <a:r>
              <a:t>━━━━━━━━━━━━━━━━━━━━━━━━━━━━━━━━━━━━━━━━</a:t>
            </a:r>
          </a:p>
          <a:p>
            <a:pPr>
              <a:defRPr sz="1200" i="1">
                <a:solidFill>
                  <a:srgbClr val="3C3C3C"/>
                </a:solidFill>
              </a:defRPr>
            </a:pPr>
            <a:r>
              <a:t>Looking ahead, AI is set to reshape the frontier of medical care with groundbreaking applications. Robotic surgery guided by AI will enhance precision, minimize tissue trauma, and accelerate patient recovery. Predictive analytics will monitor global health indicators, enabling authorities to anticipate and contain disease outbreaks before they spread. Virtual health assistants, linked to wearable sensors, will provide real‑time monitoring and dynamically adjust treatment regimens. In drug development, AI simulations will cut years off the discovery timeline by rapidly screening molecular compounds. Point‑of‑care decision support will deliver evidence‑based recommendations instantly, improving diagnostic accuracy. Genomic AI tools will translate DNA data into highly personalized therapeutic strategies. Preventive programs will leverage AI to craft bespoke lifestyle plans that stave off chronic conditions. Mental health chatbots will extend access to counseling and early detection of mood disorders. The synergy between AI and IoT wearables will create a continuous feedback ecosystem, while self‑updating models ensure that clinical guidance evolves with the latest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200" b="1">
                <a:solidFill>
                  <a:srgbClr val="FFFFFF"/>
                </a:solidFill>
              </a:defRPr>
            </a:pPr>
            <a:r>
              <a:t>Economic Impact</a:t>
            </a:r>
          </a:p>
        </p:txBody>
      </p:sp>
      <p:sp>
        <p:nvSpPr>
          <p:cNvPr id="4" name="Rounded Rectangle 3"/>
          <p:cNvSpPr/>
          <p:nvPr/>
        </p:nvSpPr>
        <p:spPr>
          <a:xfrm>
            <a:off x="274320" y="960120"/>
            <a:ext cx="11643055" cy="521208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1155680" cy="5029200"/>
          </a:xfrm>
          <a:prstGeom prst="rect">
            <a:avLst/>
          </a:prstGeom>
          <a:noFill/>
        </p:spPr>
        <p:txBody>
          <a:bodyPr wrap="square">
            <a:spAutoFit/>
          </a:bodyPr>
          <a:lstStyle/>
          <a:p/>
          <a:p>
            <a:pPr>
              <a:spcAft>
                <a:spcPts val="1000"/>
              </a:spcAft>
              <a:defRPr sz="2000">
                <a:solidFill>
                  <a:srgbClr val="000000"/>
                </a:solidFill>
              </a:defRPr>
            </a:pPr>
            <a:r>
              <a:t>• Reduce unnecessary tests, optimize resources for cost savings</a:t>
            </a:r>
          </a:p>
          <a:p>
            <a:pPr>
              <a:spcAft>
                <a:spcPts val="1000"/>
              </a:spcAft>
              <a:defRPr sz="2000">
                <a:solidFill>
                  <a:srgbClr val="000000"/>
                </a:solidFill>
              </a:defRPr>
            </a:pPr>
            <a:r>
              <a:t>• Streamlined workflows lower operational expenses</a:t>
            </a:r>
          </a:p>
          <a:p>
            <a:pPr>
              <a:spcAft>
                <a:spcPts val="1000"/>
              </a:spcAft>
              <a:defRPr sz="2000">
                <a:solidFill>
                  <a:srgbClr val="000000"/>
                </a:solidFill>
              </a:defRPr>
            </a:pPr>
            <a:r>
              <a:t>• Capital outlay for hardware, software, expertise may challenge small institutions</a:t>
            </a:r>
          </a:p>
          <a:p>
            <a:pPr>
              <a:spcAft>
                <a:spcPts val="1000"/>
              </a:spcAft>
              <a:defRPr sz="2000">
                <a:solidFill>
                  <a:srgbClr val="000000"/>
                </a:solidFill>
              </a:defRPr>
            </a:pPr>
            <a:r>
              <a:t>• Long‑term ROI from efficiency gains and better outcomes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200" b="1">
                <a:solidFill>
                  <a:srgbClr val="FFFFFF"/>
                </a:solidFill>
              </a:defRPr>
            </a:pPr>
            <a:r>
              <a:t>Implementation Challenges</a:t>
            </a:r>
          </a:p>
        </p:txBody>
      </p:sp>
      <p:sp>
        <p:nvSpPr>
          <p:cNvPr id="4" name="Rounded Rectangle 3"/>
          <p:cNvSpPr/>
          <p:nvPr/>
        </p:nvSpPr>
        <p:spPr>
          <a:xfrm>
            <a:off x="274320" y="960120"/>
            <a:ext cx="11643055" cy="521208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1155680" cy="5029200"/>
          </a:xfrm>
          <a:prstGeom prst="rect">
            <a:avLst/>
          </a:prstGeom>
          <a:noFill/>
        </p:spPr>
        <p:txBody>
          <a:bodyPr wrap="square">
            <a:spAutoFit/>
          </a:bodyPr>
          <a:lstStyle/>
          <a:p/>
          <a:p>
            <a:pPr>
              <a:spcAft>
                <a:spcPts val="1000"/>
              </a:spcAft>
              <a:defRPr sz="2000">
                <a:solidFill>
                  <a:srgbClr val="000000"/>
                </a:solidFill>
              </a:defRPr>
            </a:pPr>
            <a:r>
              <a:t>• Data privacy and security risks in AI training</a:t>
            </a:r>
          </a:p>
          <a:p>
            <a:pPr>
              <a:spcAft>
                <a:spcPts val="1000"/>
              </a:spcAft>
              <a:defRPr sz="2000">
                <a:solidFill>
                  <a:srgbClr val="000000"/>
                </a:solidFill>
              </a:defRPr>
            </a:pPr>
            <a:r>
              <a:t>• Complex, costly integration with legacy EHR systems</a:t>
            </a:r>
          </a:p>
          <a:p>
            <a:pPr>
              <a:spcAft>
                <a:spcPts val="1000"/>
              </a:spcAft>
              <a:defRPr sz="2000">
                <a:solidFill>
                  <a:srgbClr val="000000"/>
                </a:solidFill>
              </a:defRPr>
            </a:pPr>
            <a:r>
              <a:t>• Regulatory compliance (FDA, HIPAA) adds scrutiny</a:t>
            </a:r>
          </a:p>
          <a:p>
            <a:pPr>
              <a:spcAft>
                <a:spcPts val="1000"/>
              </a:spcAft>
              <a:defRPr sz="2000">
                <a:solidFill>
                  <a:srgbClr val="000000"/>
                </a:solidFill>
              </a:defRPr>
            </a:pPr>
            <a:r>
              <a:t>• Clinicians need training to interpret and embed AI outputs</a:t>
            </a:r>
          </a:p>
          <a:p>
            <a:pPr>
              <a:spcAft>
                <a:spcPts val="1000"/>
              </a:spcAft>
              <a:defRPr sz="2000">
                <a:solidFill>
                  <a:srgbClr val="000000"/>
                </a:solidFill>
              </a:defRPr>
            </a:pPr>
            <a:r>
              <a:t>• Algorithmic bias from unrepresentative data threatens equitable care</a:t>
            </a:r>
          </a:p>
          <a:p>
            <a:pPr>
              <a:spcAft>
                <a:spcPts val="1000"/>
              </a:spcAft>
              <a:defRPr sz="2000">
                <a:solidFill>
                  <a:srgbClr val="000000"/>
                </a:solidFill>
              </a:defRPr>
            </a:pPr>
            <a:r>
              <a:t>• High‑quality labeled data essential for reliable models</a:t>
            </a:r>
          </a:p>
          <a:p>
            <a:pPr>
              <a:spcAft>
                <a:spcPts val="1000"/>
              </a:spcAft>
              <a:defRPr sz="2000">
                <a:solidFill>
                  <a:srgbClr val="000000"/>
                </a:solidFill>
              </a:defRPr>
            </a:pPr>
            <a:r>
              <a:t>• Interoperability standards required for cross‑platform data exchange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200" b="1">
                <a:solidFill>
                  <a:srgbClr val="FFFFFF"/>
                </a:solidFill>
              </a:defRPr>
            </a:pPr>
            <a:r>
              <a:t>Ethical &amp; Trust Considerations</a:t>
            </a:r>
          </a:p>
        </p:txBody>
      </p:sp>
      <p:sp>
        <p:nvSpPr>
          <p:cNvPr id="4" name="Rounded Rectangle 3"/>
          <p:cNvSpPr/>
          <p:nvPr/>
        </p:nvSpPr>
        <p:spPr>
          <a:xfrm>
            <a:off x="274320" y="960120"/>
            <a:ext cx="11643055" cy="521208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1155680" cy="5029200"/>
          </a:xfrm>
          <a:prstGeom prst="rect">
            <a:avLst/>
          </a:prstGeom>
          <a:noFill/>
        </p:spPr>
        <p:txBody>
          <a:bodyPr wrap="square">
            <a:spAutoFit/>
          </a:bodyPr>
          <a:lstStyle/>
          <a:p/>
          <a:p>
            <a:pPr>
              <a:spcAft>
                <a:spcPts val="1000"/>
              </a:spcAft>
              <a:defRPr sz="2000">
                <a:solidFill>
                  <a:srgbClr val="000000"/>
                </a:solidFill>
              </a:defRPr>
            </a:pPr>
            <a:r>
              <a:t>• Informed consent mandatory for AI‑driven decisions</a:t>
            </a:r>
          </a:p>
          <a:p>
            <a:pPr>
              <a:spcAft>
                <a:spcPts val="1000"/>
              </a:spcAft>
              <a:defRPr sz="2000">
                <a:solidFill>
                  <a:srgbClr val="000000"/>
                </a:solidFill>
              </a:defRPr>
            </a:pPr>
            <a:r>
              <a:t>• Transparent AI recommendations preserve patient trust</a:t>
            </a:r>
          </a:p>
          <a:p>
            <a:pPr>
              <a:spcAft>
                <a:spcPts val="1000"/>
              </a:spcAft>
              <a:defRPr sz="2000">
                <a:solidFill>
                  <a:srgbClr val="000000"/>
                </a:solidFill>
              </a:defRPr>
            </a:pPr>
            <a:r>
              <a:t>• Mitigate bias to ensure equitable outcomes</a:t>
            </a:r>
          </a:p>
          <a:p>
            <a:pPr>
              <a:spcAft>
                <a:spcPts val="1000"/>
              </a:spcAft>
              <a:defRPr sz="2000">
                <a:solidFill>
                  <a:srgbClr val="000000"/>
                </a:solidFill>
              </a:defRPr>
            </a:pPr>
            <a:r>
              <a:t>• Communicate limitations clearly to avoid confidence erosion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200" b="1">
                <a:solidFill>
                  <a:srgbClr val="FFFFFF"/>
                </a:solidFill>
              </a:defRPr>
            </a:pPr>
            <a:r>
              <a:t>Future Outlook</a:t>
            </a:r>
          </a:p>
        </p:txBody>
      </p:sp>
      <p:sp>
        <p:nvSpPr>
          <p:cNvPr id="4" name="Rounded Rectangle 3"/>
          <p:cNvSpPr/>
          <p:nvPr/>
        </p:nvSpPr>
        <p:spPr>
          <a:xfrm>
            <a:off x="274320" y="960120"/>
            <a:ext cx="11643055" cy="521208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1155680" cy="5029200"/>
          </a:xfrm>
          <a:prstGeom prst="rect">
            <a:avLst/>
          </a:prstGeom>
          <a:noFill/>
        </p:spPr>
        <p:txBody>
          <a:bodyPr wrap="square">
            <a:spAutoFit/>
          </a:bodyPr>
          <a:lstStyle/>
          <a:p/>
          <a:p>
            <a:pPr>
              <a:spcAft>
                <a:spcPts val="1000"/>
              </a:spcAft>
              <a:defRPr sz="2000">
                <a:solidFill>
                  <a:srgbClr val="000000"/>
                </a:solidFill>
              </a:defRPr>
            </a:pPr>
            <a:r>
              <a:t>• AI speeds drug discovery via molecular simulation and candidate identification</a:t>
            </a:r>
          </a:p>
          <a:p>
            <a:pPr>
              <a:spcAft>
                <a:spcPts val="1000"/>
              </a:spcAft>
              <a:defRPr sz="2000">
                <a:solidFill>
                  <a:srgbClr val="000000"/>
                </a:solidFill>
              </a:defRPr>
            </a:pPr>
            <a:r>
              <a:t>• Advanced robotic surgery offers greater precision, less invasiveness</a:t>
            </a:r>
          </a:p>
          <a:p>
            <a:pPr>
              <a:spcAft>
                <a:spcPts val="1000"/>
              </a:spcAft>
              <a:defRPr sz="2000">
                <a:solidFill>
                  <a:srgbClr val="000000"/>
                </a:solidFill>
              </a:defRPr>
            </a:pPr>
            <a:r>
              <a:t>• Scalable mental‑health chatbots expand counseling and crisis triage</a:t>
            </a:r>
          </a:p>
          <a:p>
            <a:pPr>
              <a:spcAft>
                <a:spcPts val="1000"/>
              </a:spcAft>
              <a:defRPr sz="2000">
                <a:solidFill>
                  <a:srgbClr val="000000"/>
                </a:solidFill>
              </a:defRPr>
            </a:pPr>
            <a:r>
              <a:t>• Continuous‑learning models keep practice aligned with latest evidence</a:t>
            </a:r>
          </a:p>
          <a:p>
            <a:pPr>
              <a:spcAft>
                <a:spcPts val="1000"/>
              </a:spcAft>
              <a:defRPr sz="2000">
                <a:solidFill>
                  <a:srgbClr val="000000"/>
                </a:solidFill>
              </a:defRPr>
            </a:pPr>
            <a:r>
              <a:t>• IoT feedback loops enable dynamic, personalized care adjustments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nchor="ctr">
            <a:spAutoFit/>
          </a:bodyPr>
          <a:lstStyle/>
          <a:p>
            <a:pPr>
              <a:defRPr sz="3600" b="1">
                <a:solidFill>
                  <a:srgbClr val="FFFFFF"/>
                </a:solidFill>
              </a:defRPr>
            </a:pPr>
            <a:r>
              <a:t>Key Takeaways</a:t>
            </a:r>
          </a:p>
        </p:txBody>
      </p:sp>
      <p:sp>
        <p:nvSpPr>
          <p:cNvPr id="4" name="Rounded Rectangle 3"/>
          <p:cNvSpPr/>
          <p:nvPr/>
        </p:nvSpPr>
        <p:spPr>
          <a:xfrm>
            <a:off x="457200" y="1097280"/>
            <a:ext cx="11277295" cy="502920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789920" cy="4754880"/>
          </a:xfrm>
          <a:prstGeom prst="rect">
            <a:avLst/>
          </a:prstGeom>
          <a:noFill/>
        </p:spPr>
        <p:txBody>
          <a:bodyPr wrap="square">
            <a:spAutoFit/>
          </a:bodyPr>
          <a:lstStyle/>
          <a:p/>
          <a:p>
            <a:pPr algn="l">
              <a:spcAft>
                <a:spcPts val="2000"/>
              </a:spcAft>
              <a:defRPr sz="1600">
                <a:solidFill>
                  <a:srgbClr val="1E2761"/>
                </a:solidFill>
              </a:defRPr>
            </a:pPr>
            <a:r>
              <a:t>Artificial intelligence is rapidly transforming healthcare by delivering higher diagnostic accuracy, personalized treatments, and operational efficiencies, while also presenting significant implementation hurdles and a visionary future landscape. AI's ability to detect diseases like cancer with greater precision than human radiologists exemplifies its diagnostic power, and its integration into treatment planning tailors therapies to individual patient profiles. Administrative automation reduces clinician workload, and 24/7 chatbot support expands patient access beyond traditional hours. However, the rollout of AI faces critical obstacles, including stringent data privacy requirements, complex integration with legacy EHRs, regulatory approvals, the need for clinician training, and the risk of algorithmic bias that could compromise equity. Overcoming these challenges demands robust security measures, interoperable standards, and transparent, ethical frameworks. Looking forward, AI promises to revolutionize surgery through robotic precision, enable real‑time outbreak prediction, accelerate drug discovery, and provide continuous, AI‑driven monitoring via virtual assistants and wearables. These advances will foster ultra‑personalized medicine, proactive preventive care, and scalable mental health support. To harness AI's full potential, healthcare leaders must invest in secure infrastructure, foster interdisciplinary training, and adopt policies that ensure fairness and patient trust, thereby turning AI's promise into tangible health outcomes.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ounded Rectangle 1"/>
          <p:cNvSpPr/>
          <p:nvPr/>
        </p:nvSpPr>
        <p:spPr>
          <a:xfrm>
            <a:off x="1371600" y="2011680"/>
            <a:ext cx="9448495" cy="2560320"/>
          </a:xfrm>
          <a:prstGeom prst="roundRect">
            <a:avLst/>
          </a:prstGeom>
          <a:solidFill>
            <a:srgbClr val="FFFFFF">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103120"/>
            <a:ext cx="9448495" cy="2560320"/>
          </a:xfrm>
          <a:prstGeom prst="rect">
            <a:avLst/>
          </a:prstGeom>
          <a:noFill/>
        </p:spPr>
        <p:txBody>
          <a:bodyPr wrap="square" anchor="ctr">
            <a:spAutoFit/>
          </a:bodyPr>
          <a:lstStyle/>
          <a:p/>
          <a:p>
            <a:pPr algn="ctr">
              <a:spcAft>
                <a:spcPts val="2000"/>
              </a:spcAft>
              <a:defRPr sz="4800" b="1">
                <a:solidFill>
                  <a:srgbClr val="1E2761"/>
                </a:solidFill>
              </a:defRPr>
            </a:pPr>
            <a:r>
              <a:t>Thank You!</a:t>
            </a:r>
          </a:p>
          <a:p>
            <a:pPr algn="ctr">
              <a:defRPr sz="3200" b="0">
                <a:solidFill>
                  <a:srgbClr val="1E2761"/>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